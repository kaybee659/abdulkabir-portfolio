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7" r:id="rId1"/>
  </p:sldMasterIdLst>
  <p:notesMasterIdLst>
    <p:notesMasterId r:id="rId23"/>
  </p:notesMasterIdLst>
  <p:sldIdLst>
    <p:sldId id="256" r:id="rId2"/>
    <p:sldId id="257" r:id="rId3"/>
    <p:sldId id="258" r:id="rId4"/>
    <p:sldId id="260" r:id="rId5"/>
    <p:sldId id="261" r:id="rId6"/>
    <p:sldId id="262" r:id="rId7"/>
    <p:sldId id="263" r:id="rId8"/>
    <p:sldId id="265" r:id="rId9"/>
    <p:sldId id="266" r:id="rId10"/>
    <p:sldId id="267" r:id="rId11"/>
    <p:sldId id="268" r:id="rId12"/>
    <p:sldId id="270" r:id="rId13"/>
    <p:sldId id="271" r:id="rId14"/>
    <p:sldId id="272" r:id="rId15"/>
    <p:sldId id="273" r:id="rId16"/>
    <p:sldId id="274" r:id="rId17"/>
    <p:sldId id="275" r:id="rId18"/>
    <p:sldId id="276" r:id="rId19"/>
    <p:sldId id="277" r:id="rId20"/>
    <p:sldId id="278" r:id="rId21"/>
    <p:sldId id="279"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59" autoAdjust="0"/>
    <p:restoredTop sz="94353" autoAdjust="0"/>
  </p:normalViewPr>
  <p:slideViewPr>
    <p:cSldViewPr snapToGrid="0">
      <p:cViewPr varScale="1">
        <p:scale>
          <a:sx n="69" d="100"/>
          <a:sy n="69" d="100"/>
        </p:scale>
        <p:origin x="696"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1026"/>
    </p:cViewPr>
  </p:sorterViewPr>
  <p:notesViewPr>
    <p:cSldViewPr snapToGrid="0">
      <p:cViewPr varScale="1">
        <p:scale>
          <a:sx n="56" d="100"/>
          <a:sy n="56" d="100"/>
        </p:scale>
        <p:origin x="2832" y="4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AC6873-8DC3-4C76-BF1F-5A272F2C047F}" type="datetimeFigureOut">
              <a:rPr lang="en-US" smtClean="0"/>
              <a:t>3/18/2026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FF2818-B991-4020-A9E9-FD910CDAA00F}" type="slidenum">
              <a:rPr lang="en-US" smtClean="0"/>
              <a:t>‹#›</a:t>
            </a:fld>
            <a:endParaRPr lang="en-US"/>
          </a:p>
        </p:txBody>
      </p:sp>
    </p:spTree>
    <p:extLst>
      <p:ext uri="{BB962C8B-B14F-4D97-AF65-F5344CB8AC3E}">
        <p14:creationId xmlns:p14="http://schemas.microsoft.com/office/powerpoint/2010/main" val="15681025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6816231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4673782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8801157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smtClean="0"/>
              <a:t>3/18/2026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4485558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3/18/2026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392343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smtClean="0"/>
              <a:t>3/18/2026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337979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smtClean="0"/>
              <a:t>3/18/2026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6680150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3"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5" y="3129280"/>
            <a:ext cx="34010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smtClean="0"/>
              <a:t>3/18/2026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8121300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3/18/2026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6925386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799"/>
            <a:ext cx="8825658" cy="3640667"/>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3/18/2026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0243042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5616133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0" y="1447800"/>
            <a:ext cx="7999315" cy="2323374"/>
          </a:xfrm>
        </p:spPr>
        <p:txBody>
          <a:bodyPr/>
          <a:lstStyle>
            <a:lvl1pPr>
              <a:defRPr sz="4800"/>
            </a:lvl1pPr>
          </a:lstStyle>
          <a:p>
            <a:r>
              <a:rPr lang="en-US" smtClean="0"/>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lumMod val="60000"/>
                    <a:lumOff val="4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
        <p:nvSpPr>
          <p:cNvPr id="11" name="TextBox 10"/>
          <p:cNvSpPr txBox="1"/>
          <p:nvPr/>
        </p:nvSpPr>
        <p:spPr>
          <a:xfrm>
            <a:off x="9330490" y="2613787"/>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Tree>
    <p:extLst>
      <p:ext uri="{BB962C8B-B14F-4D97-AF65-F5344CB8AC3E}">
        <p14:creationId xmlns:p14="http://schemas.microsoft.com/office/powerpoint/2010/main" val="28141668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2894148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smtClean="0"/>
              <a:t>3/18/2026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8704752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smtClean="0"/>
              <a:t>3/18/2026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9297191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7042017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102342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smtClean="0"/>
              <a:t>3/18/2026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2903901773"/>
      </p:ext>
    </p:extLst>
  </p:cSld>
  <p:clrMap bg1="dk1" tx1="lt1" bg2="dk2" tx2="lt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3683" y="789708"/>
            <a:ext cx="8825658" cy="2658491"/>
          </a:xfrm>
        </p:spPr>
        <p:txBody>
          <a:bodyPr/>
          <a:lstStyle/>
          <a:p>
            <a:pPr algn="ctr"/>
            <a:r>
              <a:rPr lang="en-US" b="1" dirty="0" smtClean="0"/>
              <a:t>Healthcare Analysis</a:t>
            </a:r>
            <a:endParaRPr lang="en-US" b="1" dirty="0"/>
          </a:p>
        </p:txBody>
      </p:sp>
      <p:sp>
        <p:nvSpPr>
          <p:cNvPr id="3" name="Subtitle 2"/>
          <p:cNvSpPr>
            <a:spLocks noGrp="1"/>
          </p:cNvSpPr>
          <p:nvPr>
            <p:ph type="subTitle" idx="1"/>
          </p:nvPr>
        </p:nvSpPr>
        <p:spPr>
          <a:xfrm>
            <a:off x="5041074" y="4999447"/>
            <a:ext cx="6806339" cy="1505855"/>
          </a:xfrm>
        </p:spPr>
        <p:txBody>
          <a:bodyPr>
            <a:normAutofit/>
          </a:bodyPr>
          <a:lstStyle/>
          <a:p>
            <a:pPr algn="ctr"/>
            <a:r>
              <a:rPr lang="en-US" sz="3200" b="1" dirty="0" smtClean="0">
                <a:solidFill>
                  <a:schemeClr val="accent5">
                    <a:lumMod val="40000"/>
                    <a:lumOff val="60000"/>
                  </a:schemeClr>
                </a:solidFill>
              </a:rPr>
              <a:t>PATIENTS TRENDS, BILLING &amp; </a:t>
            </a:r>
            <a:r>
              <a:rPr lang="en-US" sz="3200" b="1" dirty="0" smtClean="0">
                <a:solidFill>
                  <a:schemeClr val="accent5">
                    <a:lumMod val="40000"/>
                    <a:lumOff val="60000"/>
                  </a:schemeClr>
                </a:solidFill>
              </a:rPr>
              <a:t>HOSPITAL PERFORMANCES</a:t>
            </a:r>
            <a:endParaRPr lang="en-US" sz="3200" b="1" dirty="0">
              <a:solidFill>
                <a:schemeClr val="accent5">
                  <a:lumMod val="40000"/>
                  <a:lumOff val="60000"/>
                </a:schemeClr>
              </a:solidFill>
            </a:endParaRPr>
          </a:p>
        </p:txBody>
      </p:sp>
    </p:spTree>
    <p:extLst>
      <p:ext uri="{BB962C8B-B14F-4D97-AF65-F5344CB8AC3E}">
        <p14:creationId xmlns:p14="http://schemas.microsoft.com/office/powerpoint/2010/main" val="255378704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9359" y="100021"/>
            <a:ext cx="4041920" cy="892756"/>
          </a:xfrm>
        </p:spPr>
        <p:txBody>
          <a:bodyPr/>
          <a:lstStyle/>
          <a:p>
            <a:r>
              <a:rPr lang="en-US" b="1" dirty="0" smtClean="0"/>
              <a:t>OBJECTIVES</a:t>
            </a:r>
            <a:endParaRPr lang="en-US" b="1" dirty="0"/>
          </a:p>
        </p:txBody>
      </p:sp>
      <p:sp>
        <p:nvSpPr>
          <p:cNvPr id="3" name="Content Placeholder 2"/>
          <p:cNvSpPr>
            <a:spLocks noGrp="1"/>
          </p:cNvSpPr>
          <p:nvPr>
            <p:ph idx="1"/>
          </p:nvPr>
        </p:nvSpPr>
        <p:spPr/>
        <p:txBody>
          <a:bodyPr/>
          <a:lstStyle/>
          <a:p>
            <a:pPr marL="0" indent="0">
              <a:buNone/>
            </a:pPr>
            <a:r>
              <a:rPr lang="en-US" b="1" dirty="0"/>
              <a:t>This report covers</a:t>
            </a:r>
            <a:r>
              <a:rPr lang="en-US" b="1" dirty="0" smtClean="0"/>
              <a:t>:</a:t>
            </a:r>
          </a:p>
          <a:p>
            <a:pPr marL="0" indent="0">
              <a:buNone/>
            </a:pPr>
            <a:endParaRPr lang="en-US" dirty="0"/>
          </a:p>
          <a:p>
            <a:r>
              <a:rPr lang="en-US" sz="2400" dirty="0" smtClean="0"/>
              <a:t>Analysis of </a:t>
            </a:r>
            <a:r>
              <a:rPr lang="en-US" sz="2400" dirty="0"/>
              <a:t>patient demographics and trends</a:t>
            </a:r>
          </a:p>
          <a:p>
            <a:r>
              <a:rPr lang="en-US" sz="2400" dirty="0" smtClean="0"/>
              <a:t>Identification of </a:t>
            </a:r>
            <a:r>
              <a:rPr lang="en-US" sz="2400" dirty="0"/>
              <a:t>common medical conditions</a:t>
            </a:r>
          </a:p>
          <a:p>
            <a:r>
              <a:rPr lang="en-US" sz="2400" dirty="0" smtClean="0"/>
              <a:t>Evaluation of </a:t>
            </a:r>
            <a:r>
              <a:rPr lang="en-US" sz="2400" dirty="0"/>
              <a:t>test results and hospital stay patterns</a:t>
            </a:r>
          </a:p>
          <a:p>
            <a:r>
              <a:rPr lang="en-US" sz="2400" dirty="0" smtClean="0"/>
              <a:t>Assess </a:t>
            </a:r>
            <a:r>
              <a:rPr lang="en-US" sz="2400" dirty="0"/>
              <a:t>billing and insurance performance</a:t>
            </a:r>
          </a:p>
          <a:p>
            <a:r>
              <a:rPr lang="en-US" sz="2400" dirty="0" smtClean="0"/>
              <a:t>Provide </a:t>
            </a:r>
            <a:r>
              <a:rPr lang="en-US" sz="2400" dirty="0"/>
              <a:t>insights for better healthcare decisions</a:t>
            </a:r>
          </a:p>
        </p:txBody>
      </p:sp>
    </p:spTree>
    <p:extLst>
      <p:ext uri="{BB962C8B-B14F-4D97-AF65-F5344CB8AC3E}">
        <p14:creationId xmlns:p14="http://schemas.microsoft.com/office/powerpoint/2010/main" val="364394332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37759" y="113084"/>
            <a:ext cx="5426583" cy="879693"/>
          </a:xfrm>
        </p:spPr>
        <p:txBody>
          <a:bodyPr/>
          <a:lstStyle/>
          <a:p>
            <a:r>
              <a:rPr lang="en-US" b="1" dirty="0"/>
              <a:t>DATASET OVERVIEW</a:t>
            </a:r>
            <a:endParaRPr lang="en-US" dirty="0"/>
          </a:p>
        </p:txBody>
      </p:sp>
      <p:sp>
        <p:nvSpPr>
          <p:cNvPr id="3" name="Content Placeholder 2"/>
          <p:cNvSpPr>
            <a:spLocks noGrp="1"/>
          </p:cNvSpPr>
          <p:nvPr>
            <p:ph idx="1"/>
          </p:nvPr>
        </p:nvSpPr>
        <p:spPr>
          <a:xfrm>
            <a:off x="152400" y="1219200"/>
            <a:ext cx="11804073" cy="5417127"/>
          </a:xfrm>
        </p:spPr>
        <p:txBody>
          <a:bodyPr>
            <a:normAutofit fontScale="62500" lnSpcReduction="20000"/>
          </a:bodyPr>
          <a:lstStyle/>
          <a:p>
            <a:r>
              <a:rPr lang="en-US" sz="2400" dirty="0"/>
              <a:t>The dataset includes patient-level healthcare data covering demographics, medical conditions, hospital admissions, test results, and billing information, which was used to analyze patient trends and hospital performance</a:t>
            </a:r>
            <a:r>
              <a:rPr lang="en-US" sz="2400" dirty="0" smtClean="0"/>
              <a:t>.</a:t>
            </a:r>
          </a:p>
          <a:p>
            <a:pPr marL="0" indent="0">
              <a:buNone/>
            </a:pPr>
            <a:endParaRPr lang="en-US" sz="2400" dirty="0" smtClean="0"/>
          </a:p>
          <a:p>
            <a:r>
              <a:rPr lang="en-US" sz="2400" dirty="0"/>
              <a:t>The dataset spans multiple hospitals and supports analysis across different conditions and admission types.</a:t>
            </a:r>
          </a:p>
          <a:p>
            <a:endParaRPr lang="en-US" sz="2400" dirty="0"/>
          </a:p>
          <a:p>
            <a:r>
              <a:rPr lang="en-US" sz="2400" dirty="0"/>
              <a:t>It provides both clinical and financial insights, enabling evaluation of patient outcomes and hospital revenue patterns</a:t>
            </a:r>
            <a:r>
              <a:rPr lang="en-US" sz="2400" dirty="0" smtClean="0"/>
              <a:t>.</a:t>
            </a:r>
          </a:p>
          <a:p>
            <a:pPr marL="0" indent="0">
              <a:buNone/>
            </a:pPr>
            <a:endParaRPr lang="en-US" sz="2400" dirty="0" smtClean="0"/>
          </a:p>
          <a:p>
            <a:r>
              <a:rPr lang="en-US" sz="2400" dirty="0"/>
              <a:t>The dataset contains over 55,000 patient records, giving a strong sample size for meaningful analysis. </a:t>
            </a:r>
          </a:p>
          <a:p>
            <a:endParaRPr lang="en-US" sz="2400" dirty="0"/>
          </a:p>
          <a:p>
            <a:r>
              <a:rPr lang="en-US" sz="2400" dirty="0"/>
              <a:t>On average, patients incur moderate healthcare costs, suggesting fairly consistent billing patterns across cases.</a:t>
            </a:r>
          </a:p>
          <a:p>
            <a:endParaRPr lang="en-US" sz="2400" dirty="0"/>
          </a:p>
          <a:p>
            <a:r>
              <a:rPr lang="en-US" sz="2400" dirty="0"/>
              <a:t>Patients typically spend about two weeks in the hospital, indicating the dataset includes both moderate and serious cases.</a:t>
            </a:r>
          </a:p>
          <a:p>
            <a:endParaRPr lang="en-US" sz="2400" dirty="0"/>
          </a:p>
          <a:p>
            <a:r>
              <a:rPr lang="en-US" sz="2400" dirty="0"/>
              <a:t>More than half of the patients recorded abnormal test results, which suggests a high level of medical attention is required across cases</a:t>
            </a:r>
            <a:endParaRPr lang="en-US" sz="2400" dirty="0" smtClean="0"/>
          </a:p>
          <a:p>
            <a:endParaRPr lang="en-US" sz="2400" dirty="0"/>
          </a:p>
        </p:txBody>
      </p:sp>
    </p:spTree>
    <p:extLst>
      <p:ext uri="{BB962C8B-B14F-4D97-AF65-F5344CB8AC3E}">
        <p14:creationId xmlns:p14="http://schemas.microsoft.com/office/powerpoint/2010/main" val="147763401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0" y="191461"/>
            <a:ext cx="3649053" cy="792212"/>
          </a:xfrm>
        </p:spPr>
        <p:txBody>
          <a:bodyPr/>
          <a:lstStyle/>
          <a:p>
            <a:r>
              <a:rPr lang="en-US" b="1" dirty="0" smtClean="0"/>
              <a:t>KEY INSIGHT</a:t>
            </a:r>
            <a:endParaRPr lang="en-US" b="1" dirty="0"/>
          </a:p>
        </p:txBody>
      </p:sp>
      <p:sp>
        <p:nvSpPr>
          <p:cNvPr id="3" name="Content Placeholder 2"/>
          <p:cNvSpPr>
            <a:spLocks noGrp="1"/>
          </p:cNvSpPr>
          <p:nvPr>
            <p:ph idx="1"/>
          </p:nvPr>
        </p:nvSpPr>
        <p:spPr>
          <a:xfrm>
            <a:off x="0" y="3004457"/>
            <a:ext cx="9953897" cy="3745931"/>
          </a:xfrm>
        </p:spPr>
        <p:txBody>
          <a:bodyPr>
            <a:normAutofit fontScale="92500" lnSpcReduction="10000"/>
          </a:bodyPr>
          <a:lstStyle/>
          <a:p>
            <a:pPr marL="457200" indent="-457200">
              <a:buAutoNum type="arabicPeriod"/>
            </a:pPr>
            <a:endParaRPr lang="en-US" b="1" dirty="0" smtClean="0"/>
          </a:p>
          <a:p>
            <a:pPr marL="0" indent="0">
              <a:buNone/>
            </a:pPr>
            <a:r>
              <a:rPr lang="en-US" b="1" dirty="0" smtClean="0"/>
              <a:t>1. Age group &amp; Medical condition</a:t>
            </a:r>
          </a:p>
          <a:p>
            <a:pPr marL="0" indent="0">
              <a:buNone/>
            </a:pPr>
            <a:endParaRPr lang="en-US" b="1" dirty="0"/>
          </a:p>
          <a:p>
            <a:r>
              <a:rPr lang="en-US" dirty="0"/>
              <a:t>The older age group (56+) records the highest number of patients across most medical conditions, indicating that healthcare demand increases with age.</a:t>
            </a:r>
          </a:p>
          <a:p>
            <a:endParaRPr lang="en-US" dirty="0"/>
          </a:p>
          <a:p>
            <a:r>
              <a:rPr lang="en-US" dirty="0"/>
              <a:t>Younger age groups (0–18) have significantly lower patient counts, showing fewer hospital visits or less severe conditions</a:t>
            </a:r>
            <a:r>
              <a:rPr lang="en-US" dirty="0" smtClean="0"/>
              <a:t>.</a:t>
            </a:r>
          </a:p>
          <a:p>
            <a:r>
              <a:rPr lang="en-US" dirty="0"/>
              <a:t>Chronic conditions appear more concentrated in older age groups, especially 56+.</a:t>
            </a:r>
            <a:endParaRPr lang="en-US" dirty="0" smtClean="0"/>
          </a:p>
          <a:p>
            <a:endParaRPr lang="en-US" dirty="0"/>
          </a:p>
        </p:txBody>
      </p:sp>
      <p:pic>
        <p:nvPicPr>
          <p:cNvPr id="4" name="Picture 3"/>
          <p:cNvPicPr>
            <a:picLocks noChangeAspect="1"/>
          </p:cNvPicPr>
          <p:nvPr/>
        </p:nvPicPr>
        <p:blipFill>
          <a:blip r:embed="rId2"/>
          <a:stretch>
            <a:fillRect/>
          </a:stretch>
        </p:blipFill>
        <p:spPr>
          <a:xfrm>
            <a:off x="235133" y="464044"/>
            <a:ext cx="4650376" cy="2540413"/>
          </a:xfrm>
          <a:prstGeom prst="rect">
            <a:avLst/>
          </a:prstGeom>
        </p:spPr>
      </p:pic>
    </p:spTree>
    <p:extLst>
      <p:ext uri="{BB962C8B-B14F-4D97-AF65-F5344CB8AC3E}">
        <p14:creationId xmlns:p14="http://schemas.microsoft.com/office/powerpoint/2010/main" val="262941381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84126" y="230650"/>
            <a:ext cx="3284274" cy="683751"/>
          </a:xfrm>
        </p:spPr>
        <p:txBody>
          <a:bodyPr/>
          <a:lstStyle/>
          <a:p>
            <a:r>
              <a:rPr lang="en-US" b="1" dirty="0" smtClean="0"/>
              <a:t>KEY INSIGHT</a:t>
            </a:r>
            <a:endParaRPr lang="en-US" b="1" dirty="0"/>
          </a:p>
        </p:txBody>
      </p:sp>
      <p:sp>
        <p:nvSpPr>
          <p:cNvPr id="3" name="Content Placeholder 2"/>
          <p:cNvSpPr>
            <a:spLocks noGrp="1"/>
          </p:cNvSpPr>
          <p:nvPr>
            <p:ph idx="1"/>
          </p:nvPr>
        </p:nvSpPr>
        <p:spPr>
          <a:xfrm>
            <a:off x="110535" y="3463708"/>
            <a:ext cx="11371715" cy="3250601"/>
          </a:xfrm>
        </p:spPr>
        <p:txBody>
          <a:bodyPr>
            <a:normAutofit/>
          </a:bodyPr>
          <a:lstStyle/>
          <a:p>
            <a:pPr marL="0" indent="0">
              <a:buNone/>
            </a:pPr>
            <a:r>
              <a:rPr lang="en-US" b="1" dirty="0" smtClean="0"/>
              <a:t>2. Age &amp; Test Results</a:t>
            </a:r>
            <a:endParaRPr lang="en-US" b="1" dirty="0"/>
          </a:p>
          <a:p>
            <a:endParaRPr lang="en-US" dirty="0"/>
          </a:p>
          <a:p>
            <a:r>
              <a:rPr lang="en-US" dirty="0"/>
              <a:t>Abnormal test results are more common across all age groups, especially among older patients, reinforcing the link between age and health complications</a:t>
            </a:r>
            <a:r>
              <a:rPr lang="en-US" dirty="0" smtClean="0"/>
              <a:t>.</a:t>
            </a:r>
          </a:p>
          <a:p>
            <a:r>
              <a:rPr lang="en-US" dirty="0"/>
              <a:t>However, younger groups show fewer abnormal cases, suggesting generally better health conditions</a:t>
            </a:r>
            <a:r>
              <a:rPr lang="en-US" dirty="0" smtClean="0"/>
              <a:t>.</a:t>
            </a:r>
            <a:endParaRPr lang="en-US" dirty="0"/>
          </a:p>
          <a:p>
            <a:r>
              <a:rPr lang="en-US" dirty="0" smtClean="0"/>
              <a:t>The </a:t>
            </a:r>
            <a:r>
              <a:rPr lang="en-US" dirty="0"/>
              <a:t>gap between normal and abnormal results becomes more noticeable with increasing age.</a:t>
            </a:r>
          </a:p>
        </p:txBody>
      </p:sp>
      <p:pic>
        <p:nvPicPr>
          <p:cNvPr id="4" name="Picture 3"/>
          <p:cNvPicPr>
            <a:picLocks noChangeAspect="1"/>
          </p:cNvPicPr>
          <p:nvPr/>
        </p:nvPicPr>
        <p:blipFill>
          <a:blip r:embed="rId2"/>
          <a:stretch>
            <a:fillRect/>
          </a:stretch>
        </p:blipFill>
        <p:spPr>
          <a:xfrm>
            <a:off x="254385" y="788901"/>
            <a:ext cx="4944632" cy="2450688"/>
          </a:xfrm>
          <a:prstGeom prst="rect">
            <a:avLst/>
          </a:prstGeom>
        </p:spPr>
      </p:pic>
    </p:spTree>
    <p:extLst>
      <p:ext uri="{BB962C8B-B14F-4D97-AF65-F5344CB8AC3E}">
        <p14:creationId xmlns:p14="http://schemas.microsoft.com/office/powerpoint/2010/main" val="341262044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84126" y="165335"/>
            <a:ext cx="3427965" cy="801316"/>
          </a:xfrm>
        </p:spPr>
        <p:txBody>
          <a:bodyPr/>
          <a:lstStyle/>
          <a:p>
            <a:r>
              <a:rPr lang="en-US" b="1" dirty="0" smtClean="0"/>
              <a:t>KEY INSIGHT</a:t>
            </a:r>
            <a:endParaRPr lang="en-US" b="1" dirty="0"/>
          </a:p>
        </p:txBody>
      </p:sp>
      <p:sp>
        <p:nvSpPr>
          <p:cNvPr id="3" name="Content Placeholder 2"/>
          <p:cNvSpPr>
            <a:spLocks noGrp="1"/>
          </p:cNvSpPr>
          <p:nvPr>
            <p:ph idx="1"/>
          </p:nvPr>
        </p:nvSpPr>
        <p:spPr>
          <a:xfrm>
            <a:off x="175849" y="4010299"/>
            <a:ext cx="8946541" cy="2690947"/>
          </a:xfrm>
        </p:spPr>
        <p:txBody>
          <a:bodyPr>
            <a:normAutofit fontScale="92500" lnSpcReduction="10000"/>
          </a:bodyPr>
          <a:lstStyle/>
          <a:p>
            <a:pPr marL="0" indent="0">
              <a:buNone/>
            </a:pPr>
            <a:r>
              <a:rPr lang="en-US" b="1" dirty="0" smtClean="0"/>
              <a:t>3. Gender distribution</a:t>
            </a:r>
            <a:endParaRPr lang="en-US" b="1" dirty="0"/>
          </a:p>
          <a:p>
            <a:endParaRPr lang="en-US" b="1" dirty="0"/>
          </a:p>
          <a:p>
            <a:r>
              <a:rPr lang="en-US" dirty="0"/>
              <a:t>The gender distribution is fairly balanced, although one group slightly dominates, indicating no major gender bias in hospital admissions</a:t>
            </a:r>
            <a:r>
              <a:rPr lang="en-US" dirty="0" smtClean="0"/>
              <a:t>.</a:t>
            </a:r>
          </a:p>
          <a:p>
            <a:r>
              <a:rPr lang="en-US" dirty="0"/>
              <a:t>The slight variation between genders suggests healthcare demand is fairly evenly spread</a:t>
            </a:r>
            <a:r>
              <a:rPr lang="en-US" dirty="0" smtClean="0"/>
              <a:t>.</a:t>
            </a:r>
            <a:endParaRPr lang="en-US" dirty="0"/>
          </a:p>
          <a:p>
            <a:r>
              <a:rPr lang="en-US" dirty="0"/>
              <a:t>No single gender overwhelmingly dominates, indicating balanced access to healthcare services.</a:t>
            </a:r>
            <a:endParaRPr lang="en-US" dirty="0" smtClean="0"/>
          </a:p>
          <a:p>
            <a:endParaRPr lang="en-US" dirty="0"/>
          </a:p>
        </p:txBody>
      </p:sp>
      <p:pic>
        <p:nvPicPr>
          <p:cNvPr id="4" name="Picture 3"/>
          <p:cNvPicPr>
            <a:picLocks noChangeAspect="1"/>
          </p:cNvPicPr>
          <p:nvPr/>
        </p:nvPicPr>
        <p:blipFill>
          <a:blip r:embed="rId2"/>
          <a:stretch>
            <a:fillRect/>
          </a:stretch>
        </p:blipFill>
        <p:spPr>
          <a:xfrm>
            <a:off x="175849" y="966651"/>
            <a:ext cx="5147954" cy="2781451"/>
          </a:xfrm>
          <a:prstGeom prst="rect">
            <a:avLst/>
          </a:prstGeom>
        </p:spPr>
      </p:pic>
    </p:spTree>
    <p:extLst>
      <p:ext uri="{BB962C8B-B14F-4D97-AF65-F5344CB8AC3E}">
        <p14:creationId xmlns:p14="http://schemas.microsoft.com/office/powerpoint/2010/main" val="330914921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36377" y="217586"/>
            <a:ext cx="3323463" cy="749065"/>
          </a:xfrm>
        </p:spPr>
        <p:txBody>
          <a:bodyPr/>
          <a:lstStyle/>
          <a:p>
            <a:r>
              <a:rPr lang="en-US" b="1" dirty="0" smtClean="0"/>
              <a:t>KEY INSIGHT</a:t>
            </a:r>
            <a:endParaRPr lang="en-US" b="1" dirty="0"/>
          </a:p>
        </p:txBody>
      </p:sp>
      <p:sp>
        <p:nvSpPr>
          <p:cNvPr id="3" name="Content Placeholder 2"/>
          <p:cNvSpPr>
            <a:spLocks noGrp="1"/>
          </p:cNvSpPr>
          <p:nvPr>
            <p:ph idx="1"/>
          </p:nvPr>
        </p:nvSpPr>
        <p:spPr>
          <a:xfrm>
            <a:off x="241164" y="3777215"/>
            <a:ext cx="10143807" cy="2701962"/>
          </a:xfrm>
        </p:spPr>
        <p:txBody>
          <a:bodyPr>
            <a:normAutofit fontScale="92500"/>
          </a:bodyPr>
          <a:lstStyle/>
          <a:p>
            <a:pPr marL="0" indent="0">
              <a:buNone/>
            </a:pPr>
            <a:r>
              <a:rPr lang="en-US" b="1" dirty="0" smtClean="0"/>
              <a:t>4. Medication Usage</a:t>
            </a:r>
            <a:endParaRPr lang="en-US" b="1" dirty="0"/>
          </a:p>
          <a:p>
            <a:endParaRPr lang="en-US" b="1" dirty="0"/>
          </a:p>
          <a:p>
            <a:r>
              <a:rPr lang="en-US" dirty="0"/>
              <a:t>Medications such as Aspirin, Ibuprofen, and </a:t>
            </a:r>
            <a:r>
              <a:rPr lang="en-US" dirty="0" err="1"/>
              <a:t>Paracetamol</a:t>
            </a:r>
            <a:r>
              <a:rPr lang="en-US" dirty="0"/>
              <a:t> are widely used across conditions, suggesting they are common treatments for multiple illnesses</a:t>
            </a:r>
            <a:r>
              <a:rPr lang="en-US" dirty="0" smtClean="0"/>
              <a:t>.</a:t>
            </a:r>
          </a:p>
          <a:p>
            <a:r>
              <a:rPr lang="en-US" dirty="0"/>
              <a:t>The medications shown are likely general-purpose drugs used across multiple conditions.</a:t>
            </a:r>
          </a:p>
          <a:p>
            <a:r>
              <a:rPr lang="en-US" dirty="0" smtClean="0"/>
              <a:t>The </a:t>
            </a:r>
            <a:r>
              <a:rPr lang="en-US" dirty="0"/>
              <a:t>similar usage levels suggest no single medication is overwhelmingly </a:t>
            </a:r>
            <a:r>
              <a:rPr lang="en-US" dirty="0" err="1"/>
              <a:t>dominan</a:t>
            </a:r>
            <a:endParaRPr lang="en-US" dirty="0"/>
          </a:p>
        </p:txBody>
      </p:sp>
      <p:pic>
        <p:nvPicPr>
          <p:cNvPr id="6" name="Picture 5"/>
          <p:cNvPicPr>
            <a:picLocks noChangeAspect="1"/>
          </p:cNvPicPr>
          <p:nvPr/>
        </p:nvPicPr>
        <p:blipFill>
          <a:blip r:embed="rId2"/>
          <a:stretch>
            <a:fillRect/>
          </a:stretch>
        </p:blipFill>
        <p:spPr>
          <a:xfrm>
            <a:off x="267290" y="835449"/>
            <a:ext cx="5126456" cy="2510692"/>
          </a:xfrm>
          <a:prstGeom prst="rect">
            <a:avLst/>
          </a:prstGeom>
        </p:spPr>
      </p:pic>
    </p:spTree>
    <p:extLst>
      <p:ext uri="{BB962C8B-B14F-4D97-AF65-F5344CB8AC3E}">
        <p14:creationId xmlns:p14="http://schemas.microsoft.com/office/powerpoint/2010/main" val="283552045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36377" y="139209"/>
            <a:ext cx="3297337" cy="762128"/>
          </a:xfrm>
        </p:spPr>
        <p:txBody>
          <a:bodyPr/>
          <a:lstStyle/>
          <a:p>
            <a:r>
              <a:rPr lang="en-US" b="1" dirty="0" smtClean="0"/>
              <a:t>KEY INSIGHT</a:t>
            </a:r>
            <a:endParaRPr lang="en-US" b="1" dirty="0"/>
          </a:p>
        </p:txBody>
      </p:sp>
      <p:sp>
        <p:nvSpPr>
          <p:cNvPr id="3" name="Content Placeholder 2"/>
          <p:cNvSpPr>
            <a:spLocks noGrp="1"/>
          </p:cNvSpPr>
          <p:nvPr>
            <p:ph idx="1"/>
          </p:nvPr>
        </p:nvSpPr>
        <p:spPr>
          <a:xfrm>
            <a:off x="149722" y="4234416"/>
            <a:ext cx="11779041" cy="2623584"/>
          </a:xfrm>
        </p:spPr>
        <p:txBody>
          <a:bodyPr>
            <a:normAutofit fontScale="92500" lnSpcReduction="10000"/>
          </a:bodyPr>
          <a:lstStyle/>
          <a:p>
            <a:pPr marL="0" indent="0">
              <a:buNone/>
            </a:pPr>
            <a:r>
              <a:rPr lang="en-US" b="1" dirty="0" smtClean="0"/>
              <a:t>6. Billing by Insurance provider</a:t>
            </a:r>
            <a:endParaRPr lang="en-US" dirty="0"/>
          </a:p>
          <a:p>
            <a:endParaRPr lang="en-US" dirty="0" smtClean="0"/>
          </a:p>
          <a:p>
            <a:r>
              <a:rPr lang="en-US" dirty="0" smtClean="0"/>
              <a:t>Some </a:t>
            </a:r>
            <a:r>
              <a:rPr lang="en-US" dirty="0"/>
              <a:t>insurance providers contribute significantly more to total billing, likely due to a higher number of insured patients or more expensive treatments</a:t>
            </a:r>
            <a:r>
              <a:rPr lang="en-US" dirty="0" smtClean="0"/>
              <a:t>.</a:t>
            </a:r>
          </a:p>
          <a:p>
            <a:r>
              <a:rPr lang="en-US" dirty="0"/>
              <a:t>The variation in billing suggests differences in coverage levels or patient volume per provider.</a:t>
            </a:r>
          </a:p>
          <a:p>
            <a:r>
              <a:rPr lang="en-US" dirty="0" smtClean="0"/>
              <a:t>Top </a:t>
            </a:r>
            <a:r>
              <a:rPr lang="en-US" dirty="0"/>
              <a:t>providers may be linked to hospitals with higher patient inflow or more expensive treatments.</a:t>
            </a:r>
          </a:p>
        </p:txBody>
      </p:sp>
      <p:pic>
        <p:nvPicPr>
          <p:cNvPr id="4" name="Picture 3"/>
          <p:cNvPicPr>
            <a:picLocks noChangeAspect="1"/>
          </p:cNvPicPr>
          <p:nvPr/>
        </p:nvPicPr>
        <p:blipFill>
          <a:blip r:embed="rId2"/>
          <a:stretch>
            <a:fillRect/>
          </a:stretch>
        </p:blipFill>
        <p:spPr>
          <a:xfrm>
            <a:off x="149723" y="901337"/>
            <a:ext cx="5990888" cy="2972776"/>
          </a:xfrm>
          <a:prstGeom prst="rect">
            <a:avLst/>
          </a:prstGeom>
        </p:spPr>
      </p:pic>
    </p:spTree>
    <p:extLst>
      <p:ext uri="{BB962C8B-B14F-4D97-AF65-F5344CB8AC3E}">
        <p14:creationId xmlns:p14="http://schemas.microsoft.com/office/powerpoint/2010/main" val="122444603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53199" y="161773"/>
            <a:ext cx="3705453" cy="849609"/>
          </a:xfrm>
        </p:spPr>
        <p:txBody>
          <a:bodyPr/>
          <a:lstStyle/>
          <a:p>
            <a:r>
              <a:rPr lang="en-US" b="1" dirty="0" smtClean="0"/>
              <a:t>KEY INSIGHT</a:t>
            </a:r>
            <a:endParaRPr lang="en-US" b="1" dirty="0"/>
          </a:p>
        </p:txBody>
      </p:sp>
      <p:sp>
        <p:nvSpPr>
          <p:cNvPr id="3" name="Content Placeholder 2"/>
          <p:cNvSpPr>
            <a:spLocks noGrp="1"/>
          </p:cNvSpPr>
          <p:nvPr>
            <p:ph idx="1"/>
          </p:nvPr>
        </p:nvSpPr>
        <p:spPr>
          <a:xfrm>
            <a:off x="133494" y="3352799"/>
            <a:ext cx="8946541" cy="3338947"/>
          </a:xfrm>
        </p:spPr>
        <p:txBody>
          <a:bodyPr>
            <a:normAutofit lnSpcReduction="10000"/>
          </a:bodyPr>
          <a:lstStyle/>
          <a:p>
            <a:pPr marL="0" indent="0">
              <a:buNone/>
            </a:pPr>
            <a:r>
              <a:rPr lang="en-US" b="1" dirty="0" smtClean="0"/>
              <a:t>7. Age group distribution</a:t>
            </a:r>
            <a:endParaRPr lang="en-US" b="1" dirty="0"/>
          </a:p>
          <a:p>
            <a:endParaRPr lang="en-US" b="1" dirty="0"/>
          </a:p>
          <a:p>
            <a:r>
              <a:rPr lang="en-US" dirty="0"/>
              <a:t>The 56+ age group represents the largest portion of patients, confirming that older individuals make up the majority of hospital visits</a:t>
            </a:r>
            <a:r>
              <a:rPr lang="en-US" dirty="0" smtClean="0"/>
              <a:t>.</a:t>
            </a:r>
            <a:endParaRPr lang="en-US" dirty="0"/>
          </a:p>
          <a:p>
            <a:r>
              <a:rPr lang="en-US" dirty="0" smtClean="0"/>
              <a:t>The </a:t>
            </a:r>
            <a:r>
              <a:rPr lang="en-US" dirty="0"/>
              <a:t>steady increase in patient count with age highlights the impact of aging on health.</a:t>
            </a:r>
          </a:p>
          <a:p>
            <a:r>
              <a:rPr lang="en-US" dirty="0" smtClean="0"/>
              <a:t>The </a:t>
            </a:r>
            <a:r>
              <a:rPr lang="en-US" dirty="0"/>
              <a:t>smallest share from younger patients reinforces lower hospital dependency at early ages.</a:t>
            </a:r>
          </a:p>
        </p:txBody>
      </p:sp>
      <p:pic>
        <p:nvPicPr>
          <p:cNvPr id="4" name="Picture 3"/>
          <p:cNvPicPr>
            <a:picLocks noChangeAspect="1"/>
          </p:cNvPicPr>
          <p:nvPr/>
        </p:nvPicPr>
        <p:blipFill>
          <a:blip r:embed="rId2"/>
          <a:stretch>
            <a:fillRect/>
          </a:stretch>
        </p:blipFill>
        <p:spPr>
          <a:xfrm>
            <a:off x="133494" y="438864"/>
            <a:ext cx="4782047" cy="2719258"/>
          </a:xfrm>
          <a:prstGeom prst="rect">
            <a:avLst/>
          </a:prstGeom>
        </p:spPr>
      </p:pic>
    </p:spTree>
    <p:extLst>
      <p:ext uri="{BB962C8B-B14F-4D97-AF65-F5344CB8AC3E}">
        <p14:creationId xmlns:p14="http://schemas.microsoft.com/office/powerpoint/2010/main" val="252685114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67055" y="161772"/>
            <a:ext cx="3747016" cy="905028"/>
          </a:xfrm>
        </p:spPr>
        <p:txBody>
          <a:bodyPr/>
          <a:lstStyle/>
          <a:p>
            <a:r>
              <a:rPr lang="en-US" b="1" dirty="0" smtClean="0"/>
              <a:t>KEY INSIGHT</a:t>
            </a:r>
            <a:endParaRPr lang="en-US" b="1" dirty="0"/>
          </a:p>
        </p:txBody>
      </p:sp>
      <p:sp>
        <p:nvSpPr>
          <p:cNvPr id="3" name="Content Placeholder 2"/>
          <p:cNvSpPr>
            <a:spLocks noGrp="1"/>
          </p:cNvSpPr>
          <p:nvPr>
            <p:ph idx="1"/>
          </p:nvPr>
        </p:nvSpPr>
        <p:spPr>
          <a:xfrm>
            <a:off x="119640" y="3410665"/>
            <a:ext cx="8946541" cy="3447335"/>
          </a:xfrm>
        </p:spPr>
        <p:txBody>
          <a:bodyPr>
            <a:normAutofit fontScale="92500" lnSpcReduction="10000"/>
          </a:bodyPr>
          <a:lstStyle/>
          <a:p>
            <a:pPr marL="0" indent="0">
              <a:buNone/>
            </a:pPr>
            <a:endParaRPr lang="en-US" b="1" dirty="0" smtClean="0"/>
          </a:p>
          <a:p>
            <a:pPr marL="0" indent="0">
              <a:buNone/>
            </a:pPr>
            <a:r>
              <a:rPr lang="en-US" b="1" dirty="0" smtClean="0"/>
              <a:t>8. Blood </a:t>
            </a:r>
            <a:r>
              <a:rPr lang="en-US" b="1" dirty="0"/>
              <a:t>type &amp; Medical conditions </a:t>
            </a:r>
          </a:p>
          <a:p>
            <a:endParaRPr lang="en-US" dirty="0"/>
          </a:p>
          <a:p>
            <a:r>
              <a:rPr lang="en-US" dirty="0"/>
              <a:t>There is no very strong or obvious pattern between blood type and medical condition, but some blood groups appear more frequently across certain conditions</a:t>
            </a:r>
            <a:r>
              <a:rPr lang="en-US" dirty="0" smtClean="0"/>
              <a:t>.</a:t>
            </a:r>
            <a:endParaRPr lang="en-US" dirty="0"/>
          </a:p>
          <a:p>
            <a:r>
              <a:rPr lang="en-US" dirty="0"/>
              <a:t>While some blood types appear more frequent, the differences are not extreme</a:t>
            </a:r>
            <a:r>
              <a:rPr lang="en-US" dirty="0" smtClean="0"/>
              <a:t>.</a:t>
            </a:r>
            <a:endParaRPr lang="en-US" dirty="0"/>
          </a:p>
          <a:p>
            <a:r>
              <a:rPr lang="en-US" dirty="0"/>
              <a:t>This suggests medical conditions are not strongly dependent on blood group in this dataset.</a:t>
            </a:r>
          </a:p>
        </p:txBody>
      </p:sp>
      <p:pic>
        <p:nvPicPr>
          <p:cNvPr id="4" name="Picture 3"/>
          <p:cNvPicPr>
            <a:picLocks noChangeAspect="1"/>
          </p:cNvPicPr>
          <p:nvPr/>
        </p:nvPicPr>
        <p:blipFill>
          <a:blip r:embed="rId2"/>
          <a:stretch>
            <a:fillRect/>
          </a:stretch>
        </p:blipFill>
        <p:spPr>
          <a:xfrm>
            <a:off x="119640" y="875283"/>
            <a:ext cx="5648509" cy="2535382"/>
          </a:xfrm>
          <a:prstGeom prst="rect">
            <a:avLst/>
          </a:prstGeom>
        </p:spPr>
      </p:pic>
    </p:spTree>
    <p:extLst>
      <p:ext uri="{BB962C8B-B14F-4D97-AF65-F5344CB8AC3E}">
        <p14:creationId xmlns:p14="http://schemas.microsoft.com/office/powerpoint/2010/main" val="121496673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46182" y="105132"/>
            <a:ext cx="3566907" cy="752627"/>
          </a:xfrm>
        </p:spPr>
        <p:txBody>
          <a:bodyPr/>
          <a:lstStyle/>
          <a:p>
            <a:r>
              <a:rPr lang="en-US" b="1" dirty="0" smtClean="0"/>
              <a:t>KEY INSIGHT</a:t>
            </a:r>
            <a:endParaRPr lang="en-US" b="1" dirty="0"/>
          </a:p>
        </p:txBody>
      </p:sp>
      <p:sp>
        <p:nvSpPr>
          <p:cNvPr id="3" name="Content Placeholder 2"/>
          <p:cNvSpPr>
            <a:spLocks noGrp="1"/>
          </p:cNvSpPr>
          <p:nvPr>
            <p:ph idx="1"/>
          </p:nvPr>
        </p:nvSpPr>
        <p:spPr>
          <a:xfrm>
            <a:off x="188912" y="4047974"/>
            <a:ext cx="8946541" cy="2629918"/>
          </a:xfrm>
        </p:spPr>
        <p:txBody>
          <a:bodyPr>
            <a:normAutofit lnSpcReduction="10000"/>
          </a:bodyPr>
          <a:lstStyle/>
          <a:p>
            <a:pPr marL="0" indent="0">
              <a:buNone/>
            </a:pPr>
            <a:r>
              <a:rPr lang="en-US" b="1" dirty="0" smtClean="0"/>
              <a:t>9. Medical </a:t>
            </a:r>
            <a:r>
              <a:rPr lang="en-US" b="1" dirty="0"/>
              <a:t>conditions </a:t>
            </a:r>
            <a:r>
              <a:rPr lang="en-US" b="1" dirty="0" smtClean="0"/>
              <a:t>Distribution</a:t>
            </a:r>
            <a:endParaRPr lang="en-US" b="1" dirty="0"/>
          </a:p>
          <a:p>
            <a:endParaRPr lang="en-US" dirty="0" smtClean="0"/>
          </a:p>
          <a:p>
            <a:r>
              <a:rPr lang="en-US" dirty="0" smtClean="0"/>
              <a:t>Conditions </a:t>
            </a:r>
            <a:r>
              <a:rPr lang="en-US" dirty="0"/>
              <a:t>like Diabetes and Hypertension are the most common, indicating they are major contributors to hospital admissions.</a:t>
            </a:r>
          </a:p>
          <a:p>
            <a:r>
              <a:rPr lang="en-US" dirty="0"/>
              <a:t>A few conditions dominate the dataset, showing where most healthcare resources are spent.</a:t>
            </a:r>
          </a:p>
          <a:p>
            <a:r>
              <a:rPr lang="en-US" dirty="0"/>
              <a:t>Less common conditions still contribute but at a much smaller scale.</a:t>
            </a:r>
          </a:p>
        </p:txBody>
      </p:sp>
      <p:pic>
        <p:nvPicPr>
          <p:cNvPr id="4" name="Picture 3"/>
          <p:cNvPicPr>
            <a:picLocks noChangeAspect="1"/>
          </p:cNvPicPr>
          <p:nvPr/>
        </p:nvPicPr>
        <p:blipFill>
          <a:blip r:embed="rId2"/>
          <a:stretch>
            <a:fillRect/>
          </a:stretch>
        </p:blipFill>
        <p:spPr>
          <a:xfrm>
            <a:off x="188912" y="955964"/>
            <a:ext cx="7194222" cy="2895601"/>
          </a:xfrm>
          <a:prstGeom prst="rect">
            <a:avLst/>
          </a:prstGeom>
        </p:spPr>
      </p:pic>
    </p:spTree>
    <p:extLst>
      <p:ext uri="{BB962C8B-B14F-4D97-AF65-F5344CB8AC3E}">
        <p14:creationId xmlns:p14="http://schemas.microsoft.com/office/powerpoint/2010/main" val="396820245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82691" y="106355"/>
            <a:ext cx="3289816" cy="738773"/>
          </a:xfrm>
        </p:spPr>
        <p:txBody>
          <a:bodyPr/>
          <a:lstStyle/>
          <a:p>
            <a:r>
              <a:rPr lang="en-US" b="1" dirty="0" smtClean="0"/>
              <a:t>KEY INSIGHT</a:t>
            </a:r>
            <a:endParaRPr lang="en-US" b="1" dirty="0"/>
          </a:p>
        </p:txBody>
      </p:sp>
      <p:sp>
        <p:nvSpPr>
          <p:cNvPr id="3" name="Content Placeholder 2"/>
          <p:cNvSpPr>
            <a:spLocks noGrp="1"/>
          </p:cNvSpPr>
          <p:nvPr>
            <p:ph idx="1"/>
          </p:nvPr>
        </p:nvSpPr>
        <p:spPr>
          <a:xfrm>
            <a:off x="119639" y="3632337"/>
            <a:ext cx="8946541" cy="3031700"/>
          </a:xfrm>
        </p:spPr>
        <p:txBody>
          <a:bodyPr>
            <a:normAutofit fontScale="92500"/>
          </a:bodyPr>
          <a:lstStyle/>
          <a:p>
            <a:pPr marL="0" indent="0">
              <a:buNone/>
            </a:pPr>
            <a:r>
              <a:rPr lang="en-US" b="1" dirty="0" smtClean="0"/>
              <a:t>10.Admission Type</a:t>
            </a:r>
          </a:p>
          <a:p>
            <a:endParaRPr lang="en-US" dirty="0" smtClean="0"/>
          </a:p>
          <a:p>
            <a:r>
              <a:rPr lang="en-US" dirty="0" smtClean="0"/>
              <a:t>Emergency, urgent, and elective admission are fairly evenly distributed, suggesting hospitals handle a balanced mix of planned and unplanned</a:t>
            </a:r>
          </a:p>
          <a:p>
            <a:r>
              <a:rPr lang="en-US" dirty="0" smtClean="0"/>
              <a:t>The near equal distribution indicates hospitals handle both planned and emergency care efficiently</a:t>
            </a:r>
          </a:p>
          <a:p>
            <a:r>
              <a:rPr lang="en-US" dirty="0" smtClean="0"/>
              <a:t>It also suggests no single admission type is putting excessive pressure on the system.</a:t>
            </a:r>
            <a:endParaRPr lang="en-US" dirty="0"/>
          </a:p>
        </p:txBody>
      </p:sp>
      <p:pic>
        <p:nvPicPr>
          <p:cNvPr id="4" name="Picture 3"/>
          <p:cNvPicPr>
            <a:picLocks noChangeAspect="1"/>
          </p:cNvPicPr>
          <p:nvPr/>
        </p:nvPicPr>
        <p:blipFill>
          <a:blip r:embed="rId2"/>
          <a:stretch>
            <a:fillRect/>
          </a:stretch>
        </p:blipFill>
        <p:spPr>
          <a:xfrm>
            <a:off x="119639" y="845128"/>
            <a:ext cx="4604853" cy="2515768"/>
          </a:xfrm>
          <a:prstGeom prst="rect">
            <a:avLst/>
          </a:prstGeom>
        </p:spPr>
      </p:pic>
    </p:spTree>
    <p:extLst>
      <p:ext uri="{BB962C8B-B14F-4D97-AF65-F5344CB8AC3E}">
        <p14:creationId xmlns:p14="http://schemas.microsoft.com/office/powerpoint/2010/main" val="124012345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96545" y="106354"/>
            <a:ext cx="3289816" cy="780337"/>
          </a:xfrm>
        </p:spPr>
        <p:txBody>
          <a:bodyPr/>
          <a:lstStyle/>
          <a:p>
            <a:r>
              <a:rPr lang="en-US" b="1" dirty="0" smtClean="0"/>
              <a:t>KEY INSIGHT</a:t>
            </a:r>
            <a:endParaRPr lang="en-US" b="1" dirty="0"/>
          </a:p>
        </p:txBody>
      </p:sp>
      <p:sp>
        <p:nvSpPr>
          <p:cNvPr id="3" name="Content Placeholder 2"/>
          <p:cNvSpPr>
            <a:spLocks noGrp="1"/>
          </p:cNvSpPr>
          <p:nvPr>
            <p:ph idx="1"/>
          </p:nvPr>
        </p:nvSpPr>
        <p:spPr>
          <a:xfrm>
            <a:off x="105785" y="3618482"/>
            <a:ext cx="8946541" cy="2990137"/>
          </a:xfrm>
        </p:spPr>
        <p:txBody>
          <a:bodyPr/>
          <a:lstStyle/>
          <a:p>
            <a:pPr marL="0" indent="0">
              <a:buNone/>
            </a:pPr>
            <a:r>
              <a:rPr lang="en-US" b="1" dirty="0" smtClean="0"/>
              <a:t>11. Hospital Performance</a:t>
            </a:r>
          </a:p>
          <a:p>
            <a:pPr marL="0" indent="0">
              <a:buNone/>
            </a:pPr>
            <a:endParaRPr lang="en-US" dirty="0"/>
          </a:p>
          <a:p>
            <a:r>
              <a:rPr lang="en-US" dirty="0"/>
              <a:t>Some hospitals handle significantly more patients than others, indicating differences in capacity, reputation, or specialization.</a:t>
            </a:r>
          </a:p>
          <a:p>
            <a:r>
              <a:rPr lang="en-US" dirty="0"/>
              <a:t>A few conditions dominate the dataset, showing where most healthcare resources are spent.</a:t>
            </a:r>
          </a:p>
          <a:p>
            <a:r>
              <a:rPr lang="en-US" dirty="0"/>
              <a:t>Less common conditions still contribute but at a much smaller scale.</a:t>
            </a:r>
          </a:p>
        </p:txBody>
      </p:sp>
      <p:pic>
        <p:nvPicPr>
          <p:cNvPr id="4" name="Picture 3"/>
          <p:cNvPicPr>
            <a:picLocks noChangeAspect="1"/>
          </p:cNvPicPr>
          <p:nvPr/>
        </p:nvPicPr>
        <p:blipFill>
          <a:blip r:embed="rId2"/>
          <a:stretch>
            <a:fillRect/>
          </a:stretch>
        </p:blipFill>
        <p:spPr>
          <a:xfrm>
            <a:off x="105785" y="579107"/>
            <a:ext cx="6719454" cy="2831557"/>
          </a:xfrm>
          <a:prstGeom prst="rect">
            <a:avLst/>
          </a:prstGeom>
        </p:spPr>
      </p:pic>
    </p:spTree>
    <p:extLst>
      <p:ext uri="{BB962C8B-B14F-4D97-AF65-F5344CB8AC3E}">
        <p14:creationId xmlns:p14="http://schemas.microsoft.com/office/powerpoint/2010/main" val="296812731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91746" y="106355"/>
            <a:ext cx="3580762" cy="821900"/>
          </a:xfrm>
        </p:spPr>
        <p:txBody>
          <a:bodyPr/>
          <a:lstStyle/>
          <a:p>
            <a:r>
              <a:rPr lang="en-US" b="1" dirty="0" smtClean="0"/>
              <a:t>KEY INSIGHT</a:t>
            </a:r>
            <a:endParaRPr lang="en-US" b="1" dirty="0"/>
          </a:p>
        </p:txBody>
      </p:sp>
      <p:sp>
        <p:nvSpPr>
          <p:cNvPr id="3" name="Content Placeholder 2"/>
          <p:cNvSpPr>
            <a:spLocks noGrp="1"/>
          </p:cNvSpPr>
          <p:nvPr>
            <p:ph idx="1"/>
          </p:nvPr>
        </p:nvSpPr>
        <p:spPr>
          <a:xfrm>
            <a:off x="119640" y="3258263"/>
            <a:ext cx="8946541" cy="3461191"/>
          </a:xfrm>
        </p:spPr>
        <p:txBody>
          <a:bodyPr>
            <a:normAutofit/>
          </a:bodyPr>
          <a:lstStyle/>
          <a:p>
            <a:pPr marL="0" indent="0">
              <a:buNone/>
            </a:pPr>
            <a:r>
              <a:rPr lang="en-US" b="1" dirty="0" smtClean="0"/>
              <a:t>12. Length of stay </a:t>
            </a:r>
            <a:r>
              <a:rPr lang="en-US" b="1" dirty="0" err="1" smtClean="0"/>
              <a:t>Vs</a:t>
            </a:r>
            <a:r>
              <a:rPr lang="en-US" b="1" dirty="0" smtClean="0"/>
              <a:t> Test result</a:t>
            </a:r>
          </a:p>
          <a:p>
            <a:pPr marL="0" indent="0">
              <a:buNone/>
            </a:pPr>
            <a:endParaRPr lang="en-US" b="1" dirty="0"/>
          </a:p>
          <a:p>
            <a:r>
              <a:rPr lang="en-US" dirty="0" smtClean="0"/>
              <a:t>There </a:t>
            </a:r>
            <a:r>
              <a:rPr lang="en-US" dirty="0"/>
              <a:t>is little variation in average length of stay across test result categories, indicating that abnormal results do not always lead to longer hospitalization</a:t>
            </a:r>
            <a:r>
              <a:rPr lang="en-US" dirty="0" smtClean="0"/>
              <a:t>.</a:t>
            </a:r>
            <a:endParaRPr lang="en-US" dirty="0"/>
          </a:p>
          <a:p>
            <a:r>
              <a:rPr lang="en-US" dirty="0"/>
              <a:t>The small variation indicates that test results alone do not determine recovery time</a:t>
            </a:r>
            <a:r>
              <a:rPr lang="en-US" dirty="0" smtClean="0"/>
              <a:t>.</a:t>
            </a:r>
            <a:endParaRPr lang="en-US" dirty="0"/>
          </a:p>
          <a:p>
            <a:r>
              <a:rPr lang="en-US" dirty="0"/>
              <a:t>Other factors like condition severity and treatment type likely play a bigger role</a:t>
            </a:r>
          </a:p>
        </p:txBody>
      </p:sp>
      <p:pic>
        <p:nvPicPr>
          <p:cNvPr id="4" name="Picture 3"/>
          <p:cNvPicPr>
            <a:picLocks noChangeAspect="1"/>
          </p:cNvPicPr>
          <p:nvPr/>
        </p:nvPicPr>
        <p:blipFill>
          <a:blip r:embed="rId2"/>
          <a:stretch>
            <a:fillRect/>
          </a:stretch>
        </p:blipFill>
        <p:spPr>
          <a:xfrm>
            <a:off x="119640" y="517305"/>
            <a:ext cx="5582238" cy="2687782"/>
          </a:xfrm>
          <a:prstGeom prst="rect">
            <a:avLst/>
          </a:prstGeom>
        </p:spPr>
      </p:pic>
    </p:spTree>
    <p:extLst>
      <p:ext uri="{BB962C8B-B14F-4D97-AF65-F5344CB8AC3E}">
        <p14:creationId xmlns:p14="http://schemas.microsoft.com/office/powerpoint/2010/main" val="394193057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41127" y="147918"/>
            <a:ext cx="3331379" cy="849609"/>
          </a:xfrm>
        </p:spPr>
        <p:txBody>
          <a:bodyPr/>
          <a:lstStyle/>
          <a:p>
            <a:r>
              <a:rPr lang="en-US" b="1" dirty="0" smtClean="0"/>
              <a:t>KEY INSIGHT</a:t>
            </a:r>
            <a:endParaRPr lang="en-US" b="1" dirty="0"/>
          </a:p>
        </p:txBody>
      </p:sp>
      <p:sp>
        <p:nvSpPr>
          <p:cNvPr id="3" name="Content Placeholder 2"/>
          <p:cNvSpPr>
            <a:spLocks noGrp="1"/>
          </p:cNvSpPr>
          <p:nvPr>
            <p:ph idx="1"/>
          </p:nvPr>
        </p:nvSpPr>
        <p:spPr>
          <a:xfrm>
            <a:off x="119639" y="3438373"/>
            <a:ext cx="8946541" cy="3267227"/>
          </a:xfrm>
        </p:spPr>
        <p:txBody>
          <a:bodyPr/>
          <a:lstStyle/>
          <a:p>
            <a:pPr marL="0" indent="0">
              <a:buNone/>
            </a:pPr>
            <a:r>
              <a:rPr lang="en-US" b="1" dirty="0" smtClean="0"/>
              <a:t>13. Billing by Admission type </a:t>
            </a:r>
            <a:r>
              <a:rPr lang="en-US" b="1" dirty="0"/>
              <a:t>&amp; </a:t>
            </a:r>
            <a:r>
              <a:rPr lang="en-US" b="1" dirty="0" smtClean="0"/>
              <a:t>Condition</a:t>
            </a:r>
            <a:endParaRPr lang="en-US" b="1" dirty="0"/>
          </a:p>
          <a:p>
            <a:endParaRPr lang="en-US" b="1" dirty="0"/>
          </a:p>
          <a:p>
            <a:r>
              <a:rPr lang="en-US" dirty="0"/>
              <a:t>Billing amounts are fairly similar across admission types, though certain medical conditions tend to incur slightly higher costs</a:t>
            </a:r>
            <a:r>
              <a:rPr lang="en-US" dirty="0" smtClean="0"/>
              <a:t>.</a:t>
            </a:r>
            <a:endParaRPr lang="en-US" dirty="0"/>
          </a:p>
          <a:p>
            <a:r>
              <a:rPr lang="en-US" dirty="0"/>
              <a:t>Costs remain relatively stable across admission types, indicating consistent pricing structures.</a:t>
            </a:r>
          </a:p>
          <a:p>
            <a:r>
              <a:rPr lang="en-US" dirty="0"/>
              <a:t>Certain conditions may slightly increase billing due to complexity of treatment.</a:t>
            </a:r>
          </a:p>
        </p:txBody>
      </p:sp>
      <p:pic>
        <p:nvPicPr>
          <p:cNvPr id="4" name="Picture 3"/>
          <p:cNvPicPr>
            <a:picLocks noChangeAspect="1"/>
          </p:cNvPicPr>
          <p:nvPr/>
        </p:nvPicPr>
        <p:blipFill>
          <a:blip r:embed="rId2"/>
          <a:stretch>
            <a:fillRect/>
          </a:stretch>
        </p:blipFill>
        <p:spPr>
          <a:xfrm>
            <a:off x="119639" y="872835"/>
            <a:ext cx="6281161" cy="2565538"/>
          </a:xfrm>
          <a:prstGeom prst="rect">
            <a:avLst/>
          </a:prstGeom>
        </p:spPr>
      </p:pic>
    </p:spTree>
    <p:extLst>
      <p:ext uri="{BB962C8B-B14F-4D97-AF65-F5344CB8AC3E}">
        <p14:creationId xmlns:p14="http://schemas.microsoft.com/office/powerpoint/2010/main" val="240645848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96017" y="0"/>
            <a:ext cx="3940980" cy="706582"/>
          </a:xfrm>
        </p:spPr>
        <p:txBody>
          <a:bodyPr/>
          <a:lstStyle/>
          <a:p>
            <a:r>
              <a:rPr lang="en-US" b="1" dirty="0" smtClean="0"/>
              <a:t>KEY INSIGHT</a:t>
            </a:r>
            <a:endParaRPr lang="en-US" b="1" dirty="0"/>
          </a:p>
        </p:txBody>
      </p:sp>
      <p:sp>
        <p:nvSpPr>
          <p:cNvPr id="3" name="Content Placeholder 2"/>
          <p:cNvSpPr>
            <a:spLocks noGrp="1"/>
          </p:cNvSpPr>
          <p:nvPr>
            <p:ph idx="1"/>
          </p:nvPr>
        </p:nvSpPr>
        <p:spPr>
          <a:xfrm>
            <a:off x="272039" y="3313681"/>
            <a:ext cx="8946541" cy="3364209"/>
          </a:xfrm>
        </p:spPr>
        <p:txBody>
          <a:bodyPr/>
          <a:lstStyle/>
          <a:p>
            <a:pPr marL="0" indent="0">
              <a:buNone/>
            </a:pPr>
            <a:r>
              <a:rPr lang="en-US" b="1" dirty="0" smtClean="0"/>
              <a:t>14. Billing </a:t>
            </a:r>
            <a:r>
              <a:rPr lang="en-US" b="1" dirty="0" err="1" smtClean="0"/>
              <a:t>Vs</a:t>
            </a:r>
            <a:r>
              <a:rPr lang="en-US" b="1" dirty="0" smtClean="0"/>
              <a:t> Age </a:t>
            </a:r>
            <a:r>
              <a:rPr lang="en-US" b="1" dirty="0"/>
              <a:t>&amp; </a:t>
            </a:r>
            <a:r>
              <a:rPr lang="en-US" b="1" dirty="0" smtClean="0"/>
              <a:t>Condition </a:t>
            </a:r>
            <a:endParaRPr lang="en-US" b="1" dirty="0"/>
          </a:p>
          <a:p>
            <a:endParaRPr lang="en-US" dirty="0"/>
          </a:p>
          <a:p>
            <a:r>
              <a:rPr lang="en-US" dirty="0"/>
              <a:t>Billing generally increases slightly with age, especially for chronic conditions, showing that older patients may require more expensive care</a:t>
            </a:r>
            <a:r>
              <a:rPr lang="en-US" dirty="0" smtClean="0"/>
              <a:t>.</a:t>
            </a:r>
            <a:endParaRPr lang="en-US" dirty="0"/>
          </a:p>
          <a:p>
            <a:r>
              <a:rPr lang="en-US" dirty="0"/>
              <a:t>There is a gradual upward trend in billing as age increases.</a:t>
            </a:r>
          </a:p>
          <a:p>
            <a:r>
              <a:rPr lang="en-US" dirty="0"/>
              <a:t>Variability within age groups shows that condition type also influences cost.</a:t>
            </a:r>
          </a:p>
        </p:txBody>
      </p:sp>
      <p:pic>
        <p:nvPicPr>
          <p:cNvPr id="4" name="Picture 3"/>
          <p:cNvPicPr>
            <a:picLocks noChangeAspect="1"/>
          </p:cNvPicPr>
          <p:nvPr/>
        </p:nvPicPr>
        <p:blipFill>
          <a:blip r:embed="rId2"/>
          <a:stretch>
            <a:fillRect/>
          </a:stretch>
        </p:blipFill>
        <p:spPr>
          <a:xfrm>
            <a:off x="272039" y="900546"/>
            <a:ext cx="7894468" cy="2413135"/>
          </a:xfrm>
          <a:prstGeom prst="rect">
            <a:avLst/>
          </a:prstGeom>
        </p:spPr>
      </p:pic>
    </p:spTree>
    <p:extLst>
      <p:ext uri="{BB962C8B-B14F-4D97-AF65-F5344CB8AC3E}">
        <p14:creationId xmlns:p14="http://schemas.microsoft.com/office/powerpoint/2010/main" val="279488923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12873" y="161773"/>
            <a:ext cx="4231924" cy="808046"/>
          </a:xfrm>
        </p:spPr>
        <p:txBody>
          <a:bodyPr/>
          <a:lstStyle/>
          <a:p>
            <a:r>
              <a:rPr lang="en-US" b="1" dirty="0" smtClean="0"/>
              <a:t>VISUALIZATION</a:t>
            </a:r>
            <a:endParaRPr lang="en-US" b="1" dirty="0"/>
          </a:p>
        </p:txBody>
      </p:sp>
      <p:pic>
        <p:nvPicPr>
          <p:cNvPr id="4" name="Content Placeholder 3"/>
          <p:cNvPicPr>
            <a:picLocks noGrp="1" noChangeAspect="1"/>
          </p:cNvPicPr>
          <p:nvPr>
            <p:ph idx="1"/>
          </p:nvPr>
        </p:nvPicPr>
        <p:blipFill>
          <a:blip r:embed="rId2"/>
          <a:stretch>
            <a:fillRect/>
          </a:stretch>
        </p:blipFill>
        <p:spPr>
          <a:xfrm>
            <a:off x="138545" y="1177637"/>
            <a:ext cx="11928764" cy="5555672"/>
          </a:xfrm>
          <a:prstGeom prst="rect">
            <a:avLst/>
          </a:prstGeom>
        </p:spPr>
      </p:pic>
    </p:spTree>
    <p:extLst>
      <p:ext uri="{BB962C8B-B14F-4D97-AF65-F5344CB8AC3E}">
        <p14:creationId xmlns:p14="http://schemas.microsoft.com/office/powerpoint/2010/main" val="266132780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20691" y="120209"/>
            <a:ext cx="4010252" cy="808046"/>
          </a:xfrm>
        </p:spPr>
        <p:txBody>
          <a:bodyPr/>
          <a:lstStyle/>
          <a:p>
            <a:r>
              <a:rPr lang="en-US" b="1" dirty="0" smtClean="0"/>
              <a:t>VISUALIZATION</a:t>
            </a:r>
            <a:endParaRPr lang="en-US" b="1" dirty="0"/>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207817" y="1246910"/>
            <a:ext cx="11748656" cy="5306290"/>
          </a:xfrm>
          <a:prstGeom prst="rect">
            <a:avLst/>
          </a:prstGeom>
        </p:spPr>
      </p:pic>
    </p:spTree>
    <p:extLst>
      <p:ext uri="{BB962C8B-B14F-4D97-AF65-F5344CB8AC3E}">
        <p14:creationId xmlns:p14="http://schemas.microsoft.com/office/powerpoint/2010/main" val="252857523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38254" y="147918"/>
            <a:ext cx="5492689" cy="835755"/>
          </a:xfrm>
        </p:spPr>
        <p:txBody>
          <a:bodyPr/>
          <a:lstStyle/>
          <a:p>
            <a:r>
              <a:rPr lang="en-US" b="1" dirty="0" smtClean="0"/>
              <a:t>RECOMMENDATION</a:t>
            </a:r>
            <a:endParaRPr lang="en-US" b="1" dirty="0"/>
          </a:p>
        </p:txBody>
      </p:sp>
      <p:sp>
        <p:nvSpPr>
          <p:cNvPr id="3" name="Content Placeholder 2"/>
          <p:cNvSpPr>
            <a:spLocks noGrp="1"/>
          </p:cNvSpPr>
          <p:nvPr>
            <p:ph idx="1"/>
          </p:nvPr>
        </p:nvSpPr>
        <p:spPr>
          <a:xfrm>
            <a:off x="110836" y="1246909"/>
            <a:ext cx="10626437" cy="5001490"/>
          </a:xfrm>
        </p:spPr>
        <p:txBody>
          <a:bodyPr>
            <a:normAutofit lnSpcReduction="10000"/>
          </a:bodyPr>
          <a:lstStyle/>
          <a:p>
            <a:r>
              <a:rPr lang="en-US" dirty="0"/>
              <a:t>Hospitals should prioritize care for patients aged 56+, as they represent the highest number of admissions.</a:t>
            </a:r>
          </a:p>
          <a:p>
            <a:r>
              <a:rPr lang="en-US" dirty="0"/>
              <a:t>Regular check-ups and preventive care can help reduce severe </a:t>
            </a:r>
            <a:r>
              <a:rPr lang="en-US" dirty="0" smtClean="0"/>
              <a:t>cases, this </a:t>
            </a:r>
            <a:r>
              <a:rPr lang="en-US" dirty="0"/>
              <a:t>will improve patient outcomes and reduce pressure on hospital resources</a:t>
            </a:r>
            <a:r>
              <a:rPr lang="en-US" dirty="0" smtClean="0"/>
              <a:t>.</a:t>
            </a:r>
            <a:endParaRPr lang="en-US" dirty="0"/>
          </a:p>
          <a:p>
            <a:r>
              <a:rPr lang="en-US" dirty="0"/>
              <a:t>More attention should be given to managing conditions like diabetes and </a:t>
            </a:r>
            <a:r>
              <a:rPr lang="en-US" dirty="0" smtClean="0"/>
              <a:t>hypertension, this </a:t>
            </a:r>
            <a:r>
              <a:rPr lang="en-US" dirty="0"/>
              <a:t>can be achieved through patient education and continuous monitoring.</a:t>
            </a:r>
          </a:p>
          <a:p>
            <a:r>
              <a:rPr lang="en-US" dirty="0"/>
              <a:t>Better management will help reduce frequent hospital visits and complications</a:t>
            </a:r>
            <a:r>
              <a:rPr lang="en-US" dirty="0" smtClean="0"/>
              <a:t>.</a:t>
            </a:r>
            <a:endParaRPr lang="en-US" dirty="0"/>
          </a:p>
          <a:p>
            <a:r>
              <a:rPr lang="en-US" dirty="0"/>
              <a:t>Hospitals should improve early testing and screening processes.</a:t>
            </a:r>
          </a:p>
          <a:p>
            <a:r>
              <a:rPr lang="en-US" dirty="0"/>
              <a:t>Since abnormal test results are high, early detection can prevent worsening </a:t>
            </a:r>
            <a:r>
              <a:rPr lang="en-US" dirty="0" smtClean="0"/>
              <a:t>conditions, this </a:t>
            </a:r>
            <a:r>
              <a:rPr lang="en-US" dirty="0"/>
              <a:t>will lead to faster treatment and better recovery rates</a:t>
            </a:r>
            <a:r>
              <a:rPr lang="en-US" dirty="0" smtClean="0"/>
              <a:t>.</a:t>
            </a:r>
          </a:p>
          <a:p>
            <a:r>
              <a:rPr lang="en-US" dirty="0"/>
              <a:t>Hospitals with high patient numbers should be equipped with more staff and </a:t>
            </a:r>
            <a:r>
              <a:rPr lang="en-US" dirty="0" smtClean="0"/>
              <a:t>resources, this </a:t>
            </a:r>
            <a:r>
              <a:rPr lang="en-US" dirty="0"/>
              <a:t>will help reduce workload pressure and improve service </a:t>
            </a:r>
            <a:r>
              <a:rPr lang="en-US" dirty="0" smtClean="0"/>
              <a:t>delivery. It </a:t>
            </a:r>
            <a:r>
              <a:rPr lang="en-US" dirty="0"/>
              <a:t>ensures patients receive timely and efficient care.</a:t>
            </a:r>
          </a:p>
        </p:txBody>
      </p:sp>
    </p:spTree>
    <p:extLst>
      <p:ext uri="{BB962C8B-B14F-4D97-AF65-F5344CB8AC3E}">
        <p14:creationId xmlns:p14="http://schemas.microsoft.com/office/powerpoint/2010/main" val="148309981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21382" y="175627"/>
            <a:ext cx="5395707" cy="849609"/>
          </a:xfrm>
        </p:spPr>
        <p:txBody>
          <a:bodyPr/>
          <a:lstStyle/>
          <a:p>
            <a:r>
              <a:rPr lang="en-US" b="1" dirty="0" smtClean="0"/>
              <a:t>RECOMMENDATION</a:t>
            </a:r>
            <a:endParaRPr lang="en-US" b="1" dirty="0"/>
          </a:p>
        </p:txBody>
      </p:sp>
      <p:sp>
        <p:nvSpPr>
          <p:cNvPr id="3" name="Content Placeholder 2"/>
          <p:cNvSpPr>
            <a:spLocks noGrp="1"/>
          </p:cNvSpPr>
          <p:nvPr>
            <p:ph idx="1"/>
          </p:nvPr>
        </p:nvSpPr>
        <p:spPr>
          <a:xfrm>
            <a:off x="235528" y="1025236"/>
            <a:ext cx="10169235" cy="3422073"/>
          </a:xfrm>
        </p:spPr>
        <p:txBody>
          <a:bodyPr>
            <a:normAutofit/>
          </a:bodyPr>
          <a:lstStyle/>
          <a:p>
            <a:r>
              <a:rPr lang="en-US" dirty="0"/>
              <a:t>Hospitals should strengthen relationships with key insurance </a:t>
            </a:r>
            <a:r>
              <a:rPr lang="en-US" dirty="0" smtClean="0"/>
              <a:t>providers, this </a:t>
            </a:r>
            <a:r>
              <a:rPr lang="en-US" dirty="0"/>
              <a:t>can help improve revenue flow and billing efficiency</a:t>
            </a:r>
            <a:r>
              <a:rPr lang="en-US" dirty="0" smtClean="0"/>
              <a:t>.</a:t>
            </a:r>
            <a:endParaRPr lang="en-US" dirty="0"/>
          </a:p>
          <a:p>
            <a:r>
              <a:rPr lang="en-US" dirty="0"/>
              <a:t>Efforts should be made to reduce unnecessary delays in </a:t>
            </a:r>
            <a:r>
              <a:rPr lang="en-US" dirty="0" smtClean="0"/>
              <a:t>treatment, this </a:t>
            </a:r>
            <a:r>
              <a:rPr lang="en-US" dirty="0"/>
              <a:t>will help shorten hospital stays and free up resources.</a:t>
            </a:r>
          </a:p>
          <a:p>
            <a:r>
              <a:rPr lang="en-US" dirty="0"/>
              <a:t>Efficient care improves both patient satisfaction and hospital performance</a:t>
            </a:r>
            <a:r>
              <a:rPr lang="en-US" dirty="0" smtClean="0"/>
              <a:t>.</a:t>
            </a:r>
            <a:endParaRPr lang="en-US" dirty="0"/>
          </a:p>
          <a:p>
            <a:r>
              <a:rPr lang="en-US" dirty="0"/>
              <a:t>Hospitals should ensure consistent treatment across all admission types.</a:t>
            </a:r>
          </a:p>
          <a:p>
            <a:r>
              <a:rPr lang="en-US" dirty="0"/>
              <a:t>Standardized procedures can improve efficiency and patient </a:t>
            </a:r>
            <a:r>
              <a:rPr lang="en-US" dirty="0" smtClean="0"/>
              <a:t>outcomes, this </a:t>
            </a:r>
            <a:r>
              <a:rPr lang="en-US" dirty="0"/>
              <a:t>helps maintain quality care regardless of how patients are admitted.</a:t>
            </a:r>
          </a:p>
        </p:txBody>
      </p:sp>
    </p:spTree>
    <p:extLst>
      <p:ext uri="{BB962C8B-B14F-4D97-AF65-F5344CB8AC3E}">
        <p14:creationId xmlns:p14="http://schemas.microsoft.com/office/powerpoint/2010/main" val="52393678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48400" y="147918"/>
            <a:ext cx="3940979" cy="766482"/>
          </a:xfrm>
        </p:spPr>
        <p:txBody>
          <a:bodyPr/>
          <a:lstStyle/>
          <a:p>
            <a:r>
              <a:rPr lang="en-US" b="1" dirty="0" smtClean="0"/>
              <a:t>CONCLUSION</a:t>
            </a:r>
            <a:endParaRPr lang="en-US" b="1" dirty="0"/>
          </a:p>
        </p:txBody>
      </p:sp>
      <p:sp>
        <p:nvSpPr>
          <p:cNvPr id="3" name="Content Placeholder 2"/>
          <p:cNvSpPr>
            <a:spLocks noGrp="1"/>
          </p:cNvSpPr>
          <p:nvPr>
            <p:ph idx="1"/>
          </p:nvPr>
        </p:nvSpPr>
        <p:spPr>
          <a:xfrm>
            <a:off x="175057" y="1083100"/>
            <a:ext cx="8946541" cy="4195481"/>
          </a:xfrm>
        </p:spPr>
        <p:txBody>
          <a:bodyPr>
            <a:normAutofit lnSpcReduction="10000"/>
          </a:bodyPr>
          <a:lstStyle/>
          <a:p>
            <a:r>
              <a:rPr lang="en-US" dirty="0"/>
              <a:t>This analysis highlights key patterns in patient demographics, medical conditions, and hospital operations. It shows that older patients and chronic conditions drive the majority of hospital activity, while abnormal test results are common but do not always lead to longer hospital stays.</a:t>
            </a:r>
          </a:p>
          <a:p>
            <a:endParaRPr lang="en-US" dirty="0"/>
          </a:p>
          <a:p>
            <a:r>
              <a:rPr lang="en-US" dirty="0"/>
              <a:t>Overall, the insights provide a strong foundation for improving patient care, optimizing hospital resources, and enhancing financial performance through better decision-making</a:t>
            </a:r>
            <a:r>
              <a:rPr lang="en-US" dirty="0" smtClean="0"/>
              <a:t>.</a:t>
            </a:r>
          </a:p>
          <a:p>
            <a:endParaRPr lang="en-US" dirty="0"/>
          </a:p>
          <a:p>
            <a:endParaRPr lang="en-US" dirty="0" smtClean="0"/>
          </a:p>
          <a:p>
            <a:pPr marL="0" indent="0" algn="r">
              <a:buNone/>
            </a:pPr>
            <a:r>
              <a:rPr lang="en-US" b="1" dirty="0" smtClean="0"/>
              <a:t>THANK YOU</a:t>
            </a:r>
            <a:r>
              <a:rPr lang="en-US" dirty="0" smtClean="0"/>
              <a:t>.</a:t>
            </a:r>
            <a:endParaRPr lang="en-US" dirty="0"/>
          </a:p>
        </p:txBody>
      </p:sp>
    </p:spTree>
    <p:extLst>
      <p:ext uri="{BB962C8B-B14F-4D97-AF65-F5344CB8AC3E}">
        <p14:creationId xmlns:p14="http://schemas.microsoft.com/office/powerpoint/2010/main" val="203264424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EC76B5"/>
      </a:hlink>
      <a:folHlink>
        <a:srgbClr val="E8ACCD"/>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A207AED3-9ABC-4A18-9978-A59B65688B1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440</TotalTime>
  <Words>1253</Words>
  <Application>Microsoft Office PowerPoint</Application>
  <PresentationFormat>Widescreen</PresentationFormat>
  <Paragraphs>128</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Century Gothic</vt:lpstr>
      <vt:lpstr>Wingdings 3</vt:lpstr>
      <vt:lpstr>Ion</vt:lpstr>
      <vt:lpstr>Healthcare Analysis</vt:lpstr>
      <vt:lpstr>OBJECTIVES</vt:lpstr>
      <vt:lpstr>DATASET OVERVIEW</vt:lpstr>
      <vt:lpstr>KEY INSIGHT</vt:lpstr>
      <vt:lpstr>KEY INSIGHT</vt:lpstr>
      <vt:lpstr>KEY INSIGHT</vt:lpstr>
      <vt:lpstr>KEY INSIGHT</vt:lpstr>
      <vt:lpstr>KEY INSIGHT</vt:lpstr>
      <vt:lpstr>KEY INSIGHT</vt:lpstr>
      <vt:lpstr>KEY INSIGHT</vt:lpstr>
      <vt:lpstr>KEY INSIGHT</vt:lpstr>
      <vt:lpstr>KEY INSIGHT</vt:lpstr>
      <vt:lpstr>KEY INSIGHT</vt:lpstr>
      <vt:lpstr>KEY INSIGHT</vt:lpstr>
      <vt:lpstr>KEY INSIGHT</vt:lpstr>
      <vt:lpstr>KEY INSIGHT</vt:lpstr>
      <vt:lpstr>VISUALIZATION</vt:lpstr>
      <vt:lpstr>VISUALIZATION</vt:lpstr>
      <vt:lpstr>RECOMMENDATION</vt:lpstr>
      <vt:lpstr>RECOMMENDATION</vt:lpstr>
      <vt:lpstr>CONCLUSION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Healthcare Analysis</dc:title>
  <dc:creator>ADMIN</dc:creator>
  <cp:lastModifiedBy>ADMIN</cp:lastModifiedBy>
  <cp:revision>23</cp:revision>
  <dcterms:created xsi:type="dcterms:W3CDTF">2026-03-18T00:21:20Z</dcterms:created>
  <dcterms:modified xsi:type="dcterms:W3CDTF">2026-03-19T11:05:16Z</dcterms:modified>
</cp:coreProperties>
</file>